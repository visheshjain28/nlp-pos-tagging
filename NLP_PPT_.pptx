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7" r:id="rId4"/>
    <p:sldId id="26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-66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Overall Accuracy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Accuracy (%)</c:v>
                </c:pt>
              </c:strCache>
            </c:strRef>
          </c:tx>
          <c:spPr>
            <a:solidFill>
              <a:srgbClr val="E05252"/>
            </a:solidFill>
            <a:effectLst/>
          </c:spPr>
          <c:dPt>
            <c:idx val="1"/>
            <c:spPr>
              <a:solidFill>
                <a:srgbClr val="0D9488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Sheet1!$A$2:$A$3</c:f>
              <c:strCache>
                <c:ptCount val="2"/>
                <c:pt idx="0">
                  <c:v>Rule-Based</c:v>
                </c:pt>
                <c:pt idx="1">
                  <c:v>HMM (Viterbi)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69.649999999999991</c:v>
                </c:pt>
                <c:pt idx="1">
                  <c:v>92.960000000000022</c:v>
                </c:pt>
              </c:numCache>
            </c:numRef>
          </c:val>
        </c:ser>
        <c:dLbls>
          <c:showVal val="1"/>
        </c:dLbls>
        <c:axId val="65711104"/>
        <c:axId val="164903552"/>
      </c:barChart>
      <c:catAx>
        <c:axId val="6571110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64903552"/>
        <c:crosses val="autoZero"/>
        <c:auto val="1"/>
        <c:lblAlgn val="ctr"/>
        <c:lblOffset val="100"/>
        <c:noMultiLvlLbl val="1"/>
      </c:catAx>
      <c:valAx>
        <c:axId val="164903552"/>
        <c:scaling>
          <c:orientation val="minMax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6571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Unknown-Word (OOV) Accuracy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OOV Accuracy (%)</c:v>
                </c:pt>
              </c:strCache>
            </c:strRef>
          </c:tx>
          <c:spPr>
            <a:solidFill>
              <a:srgbClr val="FFB347"/>
            </a:solidFill>
            <a:effectLst/>
          </c:spPr>
          <c:dPt>
            <c:idx val="1"/>
            <c:spPr>
              <a:solidFill>
                <a:srgbClr val="7EC8E3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Sheet1!$A$2:$A$3</c:f>
              <c:strCache>
                <c:ptCount val="2"/>
                <c:pt idx="0">
                  <c:v>Rule-Based</c:v>
                </c:pt>
                <c:pt idx="1">
                  <c:v>HMM (Viterbi)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62.379999999999995</c:v>
                </c:pt>
                <c:pt idx="1">
                  <c:v>65.33</c:v>
                </c:pt>
              </c:numCache>
            </c:numRef>
          </c:val>
        </c:ser>
        <c:dLbls>
          <c:showVal val="1"/>
        </c:dLbls>
        <c:axId val="65705472"/>
        <c:axId val="65814912"/>
      </c:barChart>
      <c:catAx>
        <c:axId val="6570547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65814912"/>
        <c:crosses val="autoZero"/>
        <c:auto val="1"/>
        <c:lblAlgn val="ctr"/>
        <c:lblOffset val="100"/>
        <c:noMultiLvlLbl val="1"/>
      </c:catAx>
      <c:valAx>
        <c:axId val="65814912"/>
        <c:scaling>
          <c:orientation val="minMax"/>
        </c:scaling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6570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1E40AF">
              <a:alpha val="90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93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347472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3493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quick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JJ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47472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E05252">
              <a:alpha val="90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493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3474720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D97706">
              <a:alpha val="9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493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jumps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VBZ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Part-of-Speech Tagging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vs Hidden Markov Model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178308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walkthrough of two classic NLP approaches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they compare in practice on real English text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 Treebank Corpus  •  Python Implementation  •  Unit III NLP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evious Works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</a:rPr>
              <a:t>Previous Works &amp; Motivation</a:t>
            </a:r>
          </a:p>
        </p:txBody>
      </p:sp>
      <p:sp>
        <p:nvSpPr>
          <p:cNvPr id="3" name="AccentBar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" name="Intro"/>
          <p:cNvSpPr/>
          <p:nvPr/>
        </p:nvSpPr>
        <p:spPr>
          <a:xfrm>
            <a:off x="457200" y="1001949"/>
            <a:ext cx="8229600" cy="632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</a:rPr>
              <a:t>POS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tagging has evolved through three eras. Our project builds era 1 and era 2 from scratch, empirically comparing both on the Penn Treebank corpus</a:t>
            </a: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</a:rPr>
              <a:t>.</a:t>
            </a:r>
            <a:endParaRPr lang="en-US" sz="1200" dirty="0">
              <a:solidFill>
                <a:srgbClr val="64748B"/>
              </a:solidFill>
              <a:latin typeface="Calibri" pitchFamily="34" charset="0"/>
            </a:endParaRPr>
          </a:p>
        </p:txBody>
      </p:sp>
      <p:sp>
        <p:nvSpPr>
          <p:cNvPr id="10" name="C1Bg"/>
          <p:cNvSpPr/>
          <p:nvPr/>
        </p:nvSpPr>
        <p:spPr>
          <a:xfrm>
            <a:off x="415752" y="1877438"/>
            <a:ext cx="3840480" cy="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C1Stripe"/>
          <p:cNvSpPr/>
          <p:nvPr/>
        </p:nvSpPr>
        <p:spPr>
          <a:xfrm>
            <a:off x="428016" y="1882320"/>
            <a:ext cx="73152" cy="980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</p:sp>
      <p:sp>
        <p:nvSpPr>
          <p:cNvPr id="12" name="C1Text"/>
          <p:cNvSpPr/>
          <p:nvPr/>
        </p:nvSpPr>
        <p:spPr>
          <a:xfrm>
            <a:off x="585216" y="1877438"/>
            <a:ext cx="3657024" cy="8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  <a:latin typeface="Calibri" pitchFamily="34" charset="0"/>
              </a:rPr>
              <a:t>Brill (1992) — ACL Proceedings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</a:rPr>
              <a:t>Rule-Based POS Tagger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Transformation-based error-driven tagging on Penn Treebank. Showed rules achieve ~95% on known words but fail on ambiguous and unseen words. The problem this project addresses.</a:t>
            </a:r>
          </a:p>
        </p:txBody>
      </p:sp>
      <p:sp>
        <p:nvSpPr>
          <p:cNvPr id="20" name="C2Bg"/>
          <p:cNvSpPr/>
          <p:nvPr/>
        </p:nvSpPr>
        <p:spPr>
          <a:xfrm>
            <a:off x="4457400" y="1882320"/>
            <a:ext cx="3840480" cy="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C2Stripe"/>
          <p:cNvSpPr/>
          <p:nvPr/>
        </p:nvSpPr>
        <p:spPr>
          <a:xfrm>
            <a:off x="4457400" y="1872592"/>
            <a:ext cx="73152" cy="98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</p:sp>
      <p:sp>
        <p:nvSpPr>
          <p:cNvPr id="22" name="C2Text"/>
          <p:cNvSpPr/>
          <p:nvPr/>
        </p:nvSpPr>
        <p:spPr>
          <a:xfrm>
            <a:off x="4585416" y="1877438"/>
            <a:ext cx="3657024" cy="8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</a:rPr>
              <a:t>arXiv:1310.0575 — 2013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</a:rPr>
              <a:t>Neural Sequence Labelling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Neural approach surpassing HMM on POS tagging. Highlights the gap between statistical (HMM) and neural methods, motivating why learning from data beats fixed rules.</a:t>
            </a:r>
          </a:p>
        </p:txBody>
      </p:sp>
      <p:sp>
        <p:nvSpPr>
          <p:cNvPr id="30" name="C3Bg"/>
          <p:cNvSpPr/>
          <p:nvPr/>
        </p:nvSpPr>
        <p:spPr>
          <a:xfrm>
            <a:off x="415752" y="3015574"/>
            <a:ext cx="3840480" cy="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C3Stripe"/>
          <p:cNvSpPr/>
          <p:nvPr/>
        </p:nvSpPr>
        <p:spPr>
          <a:xfrm>
            <a:off x="428016" y="3001776"/>
            <a:ext cx="73152" cy="980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</p:sp>
      <p:sp>
        <p:nvSpPr>
          <p:cNvPr id="32" name="C3Text"/>
          <p:cNvSpPr/>
          <p:nvPr/>
        </p:nvSpPr>
        <p:spPr>
          <a:xfrm>
            <a:off x="585216" y="3015574"/>
            <a:ext cx="3657024" cy="9824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</a:rPr>
              <a:t>mygreatlearning.com — Blog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</a:rPr>
              <a:t>POS Tagging: Complete Tutorial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Practical overview of Penn Treebank tag sets, NLP applications (search, chatbots, grammar checkers) and the case for moving beyond pure rule-based methods.</a:t>
            </a:r>
          </a:p>
        </p:txBody>
      </p:sp>
      <p:sp>
        <p:nvSpPr>
          <p:cNvPr id="40" name="C4Bg"/>
          <p:cNvSpPr/>
          <p:nvPr/>
        </p:nvSpPr>
        <p:spPr>
          <a:xfrm>
            <a:off x="4457400" y="3018068"/>
            <a:ext cx="3840480" cy="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C4Stripe"/>
          <p:cNvSpPr/>
          <p:nvPr/>
        </p:nvSpPr>
        <p:spPr>
          <a:xfrm>
            <a:off x="4457400" y="3011504"/>
            <a:ext cx="73152" cy="9800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</a:ln>
        </p:spPr>
      </p:sp>
      <p:sp>
        <p:nvSpPr>
          <p:cNvPr id="42" name="C4Text"/>
          <p:cNvSpPr/>
          <p:nvPr/>
        </p:nvSpPr>
        <p:spPr>
          <a:xfrm>
            <a:off x="4585416" y="3001776"/>
            <a:ext cx="3657024" cy="9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</a:rPr>
              <a:t>piyushsinghpasi — GitHub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</a:rPr>
              <a:t>POS-Tagger-HMM (Reference Impl.)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Clean HMM implementation. We extend it with a hybrid unknown-word handler, replacing uniform OOV priors with suffix-informed emission probabilities for better OOV accuracy.</a:t>
            </a:r>
          </a:p>
        </p:txBody>
      </p:sp>
      <p:sp>
        <p:nvSpPr>
          <p:cNvPr id="50" name="ProgBg"/>
          <p:cNvSpPr/>
          <p:nvPr/>
        </p:nvSpPr>
        <p:spPr>
          <a:xfrm>
            <a:off x="415752" y="4200366"/>
            <a:ext cx="8229600" cy="43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</p:sp>
      <p:sp>
        <p:nvSpPr>
          <p:cNvPr id="51" name="ProgText"/>
          <p:cNvSpPr/>
          <p:nvPr/>
        </p:nvSpPr>
        <p:spPr>
          <a:xfrm>
            <a:off x="457200" y="4134256"/>
            <a:ext cx="8229600" cy="496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</a:rPr>
              <a:t>Era 1: Rule-Based 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→   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</a:rPr>
              <a:t>Era 2: Statistical HMM (this project) 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→   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</a:rPr>
              <a:t>Era 3: Neural / BERT (arXiv:1310.0575)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 Statem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</a:rPr>
              <a:t>The Problem Being Faced</a:t>
            </a:r>
          </a:p>
        </p:txBody>
      </p:sp>
      <p:sp>
        <p:nvSpPr>
          <p:cNvPr id="3" name="Bar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</a:ln>
        </p:spPr>
      </p:sp>
      <p:sp>
        <p:nvSpPr>
          <p:cNvPr id="4" name="Sub"/>
          <p:cNvSpPr/>
          <p:nvPr/>
        </p:nvSpPr>
        <p:spPr>
          <a:xfrm>
            <a:off x="457200" y="878112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Three core limitations motivate moving from Rule-Based to Statistical (HMM) POS tagging.</a:t>
            </a:r>
          </a:p>
        </p:txBody>
      </p:sp>
      <p:sp>
        <p:nvSpPr>
          <p:cNvPr id="10" name="P1Bg"/>
          <p:cNvSpPr/>
          <p:nvPr/>
        </p:nvSpPr>
        <p:spPr>
          <a:xfrm>
            <a:off x="457200" y="1270000"/>
            <a:ext cx="8229600" cy="8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P1Stripe"/>
          <p:cNvSpPr/>
          <p:nvPr/>
        </p:nvSpPr>
        <p:spPr>
          <a:xfrm>
            <a:off x="457200" y="1270000"/>
            <a:ext cx="73152" cy="8300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</a:ln>
        </p:spPr>
      </p:sp>
      <p:sp>
        <p:nvSpPr>
          <p:cNvPr id="12" name="P1Text"/>
          <p:cNvSpPr/>
          <p:nvPr/>
        </p:nvSpPr>
        <p:spPr>
          <a:xfrm>
            <a:off x="600000" y="1288000"/>
            <a:ext cx="8050000" cy="79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</a:rPr>
              <a:t>Problem 1: Lexical Ambiguity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The same word can be different POS depending on context. Rules cannot know which without looking at surrounding words.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</a:rPr>
              <a:t>  • "I went to the bank" → bank = NN (noun)     •  "They bank on cheap labour" → bank = VBP (verb)</a:t>
            </a:r>
          </a:p>
        </p:txBody>
      </p:sp>
      <p:sp>
        <p:nvSpPr>
          <p:cNvPr id="20" name="P2Bg"/>
          <p:cNvSpPr/>
          <p:nvPr/>
        </p:nvSpPr>
        <p:spPr>
          <a:xfrm>
            <a:off x="457200" y="2200000"/>
            <a:ext cx="8229600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P2Stripe"/>
          <p:cNvSpPr/>
          <p:nvPr/>
        </p:nvSpPr>
        <p:spPr>
          <a:xfrm>
            <a:off x="457200" y="2200000"/>
            <a:ext cx="73152" cy="730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</p:sp>
      <p:sp>
        <p:nvSpPr>
          <p:cNvPr id="22" name="P2Text"/>
          <p:cNvSpPr/>
          <p:nvPr/>
        </p:nvSpPr>
        <p:spPr>
          <a:xfrm>
            <a:off x="600000" y="2218000"/>
            <a:ext cx="8050000" cy="69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</a:rPr>
              <a:t>Problem 2: Unknown Words (Out-of-Vocabulary)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Real text always contains words the model was never trained on. A standard HMM assigns near-zero emission probability to every tag uniformly, making random guesses. A rule-based tagger has no corpus to fall back on either.</a:t>
            </a:r>
          </a:p>
        </p:txBody>
      </p:sp>
      <p:sp>
        <p:nvSpPr>
          <p:cNvPr id="30" name="P3Bg"/>
          <p:cNvSpPr/>
          <p:nvPr/>
        </p:nvSpPr>
        <p:spPr>
          <a:xfrm>
            <a:off x="457200" y="3040000"/>
            <a:ext cx="82296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P3Stripe"/>
          <p:cNvSpPr/>
          <p:nvPr/>
        </p:nvSpPr>
        <p:spPr>
          <a:xfrm>
            <a:off x="457200" y="3040000"/>
            <a:ext cx="73152" cy="7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</p:sp>
      <p:sp>
        <p:nvSpPr>
          <p:cNvPr id="32" name="P3Text"/>
          <p:cNvSpPr/>
          <p:nvPr/>
        </p:nvSpPr>
        <p:spPr>
          <a:xfrm>
            <a:off x="600000" y="3058000"/>
            <a:ext cx="8050000" cy="66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</a:rPr>
              <a:t>Problem 3: Rule Coverage Does Not Scale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Hand-crafting rules for every exception is labour-intensive and brittle. English has ~1 million words; no rule set can fully cover them. Statistical models learn patterns automatically from annotated data.</a:t>
            </a:r>
          </a:p>
        </p:txBody>
      </p:sp>
      <p:sp>
        <p:nvSpPr>
          <p:cNvPr id="40" name="ResBg"/>
          <p:cNvSpPr/>
          <p:nvPr/>
        </p:nvSpPr>
        <p:spPr>
          <a:xfrm>
            <a:off x="457200" y="4034999"/>
            <a:ext cx="8229600" cy="536999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</p:sp>
      <p:sp>
        <p:nvSpPr>
          <p:cNvPr id="41" name="ResText"/>
          <p:cNvSpPr/>
          <p:nvPr/>
        </p:nvSpPr>
        <p:spPr>
          <a:xfrm>
            <a:off x="457200" y="4017522"/>
            <a:ext cx="8229600" cy="554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Our Solution: A Bigram HMM with Viterbi decoding + a Hybrid OOV handler that uses rule-based suffix heuristics to improve unknown-word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ovel Contribu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</a:rPr>
              <a:t>Our Novel Contribution</a:t>
            </a:r>
          </a:p>
        </p:txBody>
      </p:sp>
      <p:sp>
        <p:nvSpPr>
          <p:cNvPr id="3" name="Bar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</a:ln>
        </p:spPr>
      </p:sp>
      <p:sp>
        <p:nvSpPr>
          <p:cNvPr id="4" name="Sub"/>
          <p:cNvSpPr/>
          <p:nvPr/>
        </p:nvSpPr>
        <p:spPr>
          <a:xfrm>
            <a:off x="457200" y="878111"/>
            <a:ext cx="8229600" cy="46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</a:rPr>
              <a:t>Hybrid OOV Handler: instead of a uniform prior for unknown words, the HMM uses Rule-Based suffix heuristics to inform emission probabilities.</a:t>
            </a:r>
          </a:p>
        </p:txBody>
      </p:sp>
      <p:sp>
        <p:nvSpPr>
          <p:cNvPr id="10" name="StdBg"/>
          <p:cNvSpPr/>
          <p:nvPr/>
        </p:nvSpPr>
        <p:spPr>
          <a:xfrm>
            <a:off x="457200" y="1478604"/>
            <a:ext cx="3840480" cy="20956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tdStripe"/>
          <p:cNvSpPr/>
          <p:nvPr/>
        </p:nvSpPr>
        <p:spPr>
          <a:xfrm>
            <a:off x="457200" y="1474288"/>
            <a:ext cx="73152" cy="21000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</a:ln>
        </p:spPr>
      </p:sp>
      <p:sp>
        <p:nvSpPr>
          <p:cNvPr id="12" name="StdText"/>
          <p:cNvSpPr/>
          <p:nvPr/>
        </p:nvSpPr>
        <p:spPr>
          <a:xfrm>
            <a:off x="585216" y="1478604"/>
            <a:ext cx="3657024" cy="2178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</a:rPr>
              <a:t>Standard HMM (Baseline)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When word is OOV (not in training vocab):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Assign a tiny constant log-prob (e.g. -12) to ALL tags equally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Model ignores morphology of the unknown word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Tag chosen only from context (transition probs)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No use of the word's own spelling clues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</a:rPr>
              <a:t>Result: OOV accuracy ~58-62%</a:t>
            </a:r>
          </a:p>
        </p:txBody>
      </p:sp>
      <p:sp>
        <p:nvSpPr>
          <p:cNvPr id="20" name="OurBg"/>
          <p:cNvSpPr/>
          <p:nvPr/>
        </p:nvSpPr>
        <p:spPr>
          <a:xfrm>
            <a:off x="4457400" y="1474288"/>
            <a:ext cx="3840480" cy="2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OurStripe"/>
          <p:cNvSpPr/>
          <p:nvPr/>
        </p:nvSpPr>
        <p:spPr>
          <a:xfrm>
            <a:off x="4457400" y="1464560"/>
            <a:ext cx="73152" cy="2100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</p:sp>
      <p:sp>
        <p:nvSpPr>
          <p:cNvPr id="22" name="OurText"/>
          <p:cNvSpPr/>
          <p:nvPr/>
        </p:nvSpPr>
        <p:spPr>
          <a:xfrm>
            <a:off x="4585416" y="1474288"/>
            <a:ext cx="3657024" cy="2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</a:rPr>
              <a:t>Our Hybrid OOV Handler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When word is OOV, query the Rule-Based tagger: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If tag == rule_tag: log(0.90)  [rule agrees]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If tag is open-class (NN/VBG/JJ): log(0.02)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Closed-class tags (DT/IN/CC): log(1e-6)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• Uses suffix patterns (-ing, -tion, -able etc.) as a morphological prior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</a:rPr>
              <a:t>Result: OOV accuracy 65.33% (+3-7%)</a:t>
            </a:r>
          </a:p>
        </p:txBody>
      </p:sp>
      <p:sp>
        <p:nvSpPr>
          <p:cNvPr id="25" name="VSText"/>
          <p:cNvSpPr/>
          <p:nvPr/>
        </p:nvSpPr>
        <p:spPr>
          <a:xfrm>
            <a:off x="4297680" y="1680000"/>
            <a:ext cx="16008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94A3B8"/>
              </a:solidFill>
              <a:latin typeface="Calibri" pitchFamily="34" charset="0"/>
            </a:endParaRPr>
          </a:p>
        </p:txBody>
      </p:sp>
      <p:sp>
        <p:nvSpPr>
          <p:cNvPr id="30" name="InsightBg"/>
          <p:cNvSpPr/>
          <p:nvPr/>
        </p:nvSpPr>
        <p:spPr>
          <a:xfrm>
            <a:off x="415752" y="3832698"/>
            <a:ext cx="8229600" cy="86730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</p:sp>
      <p:sp>
        <p:nvSpPr>
          <p:cNvPr id="31" name="InsightText"/>
          <p:cNvSpPr/>
          <p:nvPr/>
        </p:nvSpPr>
        <p:spPr>
          <a:xfrm>
            <a:off x="457200" y="383269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</a:rPr>
              <a:t>Key Insight: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</a:rPr>
              <a:t>Rules encode linguistic knowledge; statistics learn from data. The hybrid bridges both — using rules as a morphological prior inside a fully statistical Viterbi decoder. This is relevant in modern NLP where low-resource languages lack large annotated corpora.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POS Tagging?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Part-of-Speech (POS) Tagging assigns a grammatical label to every word in a sentence — noun, verb, adjective, etc.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960120" cy="384048"/>
          </a:xfrm>
          <a:prstGeom prst="rect">
            <a:avLst/>
          </a:prstGeom>
          <a:solidFill>
            <a:srgbClr val="1E40AF">
              <a:alpha val="88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184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960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2082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89888" y="1600200"/>
            <a:ext cx="960120" cy="384048"/>
          </a:xfrm>
          <a:prstGeom prst="rect">
            <a:avLst/>
          </a:prstGeom>
          <a:solidFill>
            <a:srgbClr val="0D9488">
              <a:alpha val="8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16184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89888" y="2011680"/>
            <a:ext cx="960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202082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9736" y="1600200"/>
            <a:ext cx="960120" cy="384048"/>
          </a:xfrm>
          <a:prstGeom prst="rect">
            <a:avLst/>
          </a:prstGeom>
          <a:solidFill>
            <a:srgbClr val="E05252">
              <a:alpha val="88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16184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59736" y="2011680"/>
            <a:ext cx="960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9736" y="202082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9584" y="1600200"/>
            <a:ext cx="960120" cy="384048"/>
          </a:xfrm>
          <a:prstGeom prst="rect">
            <a:avLst/>
          </a:prstGeom>
          <a:solidFill>
            <a:srgbClr val="D97706">
              <a:alpha val="8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16184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9584" y="2011680"/>
            <a:ext cx="960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9584" y="202082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VBZ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99432" y="1600200"/>
            <a:ext cx="960120" cy="384048"/>
          </a:xfrm>
          <a:prstGeom prst="rect">
            <a:avLst/>
          </a:prstGeom>
          <a:solidFill>
            <a:srgbClr val="16A34A">
              <a:alpha val="88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16184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99432" y="2011680"/>
            <a:ext cx="960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02082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1600200"/>
            <a:ext cx="960120" cy="384048"/>
          </a:xfrm>
          <a:prstGeom prst="rect">
            <a:avLst/>
          </a:prstGeom>
          <a:solidFill>
            <a:srgbClr val="1E40AF">
              <a:alpha val="88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6184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0" y="2011680"/>
            <a:ext cx="960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202082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39128" y="1600200"/>
            <a:ext cx="960120" cy="384048"/>
          </a:xfrm>
          <a:prstGeom prst="rect">
            <a:avLst/>
          </a:prstGeom>
          <a:solidFill>
            <a:srgbClr val="0D9488">
              <a:alpha val="8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16184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39128" y="2011680"/>
            <a:ext cx="960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39128" y="202082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08976" y="1600200"/>
            <a:ext cx="960120" cy="384048"/>
          </a:xfrm>
          <a:prstGeom prst="rect">
            <a:avLst/>
          </a:prstGeom>
          <a:solidFill>
            <a:srgbClr val="E05252">
              <a:alpha val="88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08976" y="16184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808976" y="2011680"/>
            <a:ext cx="960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08976" y="202082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578608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78992" y="2706624"/>
            <a:ext cx="493776" cy="493776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query intent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("apple" — fruit or company?)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68880" y="2578608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27832" y="2706624"/>
            <a:ext cx="493776" cy="493776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46888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 and meaning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by language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17720" y="2578608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76672" y="2706624"/>
            <a:ext cx="493776" cy="493776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Checkers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61772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subject-verb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errors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66560" y="2578608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525512" y="2706624"/>
            <a:ext cx="493776" cy="493776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NLP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6656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 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commands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 is the foundation — almost every NLP pipeline uses it as a first step.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Dataset: Penn Treebank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 Treebank (WSJ)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newspaper articles from the Wall Street Journal, manually annotated by linguists.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~49,000 tagged sentences with 45 different POS labels.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via NLTK Python library.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code as: treebank.tagged_sents()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691640"/>
            <a:ext cx="3291840" cy="411480"/>
          </a:xfrm>
          <a:prstGeom prst="rect">
            <a:avLst/>
          </a:prstGeom>
          <a:solidFill>
            <a:srgbClr val="0D9488">
              <a:alpha val="9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691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(~3,900 sentences)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176272"/>
            <a:ext cx="822960" cy="411480"/>
          </a:xfrm>
          <a:prstGeom prst="rect">
            <a:avLst/>
          </a:prstGeom>
          <a:solidFill>
            <a:srgbClr val="E05252">
              <a:alpha val="95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17627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(~975 sentences)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12724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HMM learns patterns from training data.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on unseen data to measure real accuracy — not just how well it memorised the training set.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POS Tags Used: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6344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27048" y="466344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27048" y="466344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VBZ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96896" y="466344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96896" y="466344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66744" y="466344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6744" y="466344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36592" y="466344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466344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06440" y="466344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466344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76288" y="466344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466344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46136" y="466344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6136" y="466344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Rule-Based Tagger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needed — applies hand-crafted rules in priority order. First matching rule wins.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636776"/>
            <a:ext cx="384048" cy="384048"/>
          </a:xfrm>
          <a:prstGeom prst="ellipse">
            <a:avLst/>
          </a:prstGeom>
          <a:solidFill>
            <a:srgbClr val="1E40AF">
              <a:alpha val="85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270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Lookup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892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"the" → DT,  "will" → MD,  "in" → 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96312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2715768"/>
            <a:ext cx="384048" cy="384048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606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Digits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"2024", "100"  → CD (cardinal number)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75304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75304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" y="3794760"/>
            <a:ext cx="384048" cy="384048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6850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Numbers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0507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"$5.2B", "1990s"  → CD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4173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417320"/>
            <a:ext cx="73152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28616" y="1636776"/>
            <a:ext cx="384048" cy="384048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15270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Mid-Sentence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1892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"Microsoft", "Paris"  → NNP (proper noun)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49631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496312"/>
            <a:ext cx="73152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28616" y="2715768"/>
            <a:ext cx="384048" cy="384048"/>
          </a:xfrm>
          <a:prstGeom prst="ellipse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606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Patterns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-ing→VBG  -tion→NN  -able→JJ  -ly→RB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575304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575304"/>
            <a:ext cx="73152" cy="9601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28616" y="3794760"/>
            <a:ext cx="384048" cy="384048"/>
          </a:xfrm>
          <a:prstGeom prst="ellipse">
            <a:avLst/>
          </a:prstGeom>
          <a:solidFill>
            <a:srgbClr val="E05252">
              <a:alpha val="85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94960" y="36850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Fallback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94960" y="40507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matched?  → NN (most common tag in English)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HMM Tagger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data. Uses probabilities to tag entire sequences — not just one word at a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023360" cy="438912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Probability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P(current tag | previous tag)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one POS tag to follow another?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DT (determiner), NN appears ~35% of the time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_____"  → likely a noun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17320"/>
            <a:ext cx="4023360" cy="438912"/>
          </a:xfrm>
          <a:prstGeom prst="rect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463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Probability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73168" y="192024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P(word | tag)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a word to appear for a given tag?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P("running" | VBG) = high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P("running" | DT) ≈ 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221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training works: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3308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every (prev_tag → tag) pair  →  Compute transition probabilities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every (tag → word) pair  →  Compute emission probabilities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smoothing (+1 to every count) so no probability is ever zero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Decoding: The Viterbi Algorithm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trained, how does the HMM choose the best tag for every word? — It uses the Viterbi algorithm.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96596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44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grid: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Each column = one word in the sentence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Each row = a possible POS tag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Each cell = a score (how good is this tag here?)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Viterbi finds the highest-scoring PATH through this grid — left to right — using dynamic programming.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444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Steps in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883664"/>
            <a:ext cx="329184" cy="329184"/>
          </a:xfrm>
          <a:prstGeom prst="ellipse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865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84708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188366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tag for the first word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359152"/>
            <a:ext cx="329184" cy="329184"/>
          </a:xfrm>
          <a:prstGeom prst="ellipse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3408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32257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3591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next word, find the best previous tag → 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329184" cy="329184"/>
          </a:xfrm>
          <a:prstGeom prst="ellipse">
            <a:avLst/>
          </a:prstGeom>
          <a:solidFill>
            <a:srgbClr val="1E40AF">
              <a:alpha val="90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8163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279806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8346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backpointers to read off the full tag sequence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56432"/>
            <a:ext cx="822960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log-space arithmetic?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8221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many small probabilities (e.g. 0.001 × 0.003 × 0.002 …) produces numbers too small for computers to store — this is called numerical underflow. By taking log() of each probability, multiplication becomes addition, which is numerically stable.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15968"/>
            <a:ext cx="8229600" cy="640080"/>
          </a:xfrm>
          <a:prstGeom prst="rect">
            <a:avLst/>
          </a:prstGeom>
          <a:solidFill>
            <a:srgbClr val="FFF1F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370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words (OOV):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464515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words never seen in training, the HMM borrows the rule-based tagger's suffix heuristics to estimate a tag — a clever hybrid approach.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Head-to-Head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Accuracy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Penn Treebank test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Accuracy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Penn Treebank test set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+23.3%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learning from data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57200" y="2926080"/>
          <a:ext cx="40233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4663440" y="2926080"/>
          <a:ext cx="40233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confusion matrix shows how often the predicted tag matches the correct (gold) tag. Diagonal = correct predictions.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41148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— Key Results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39319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470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(preposition)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18470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63240" y="18470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(determiner)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31720" y="21671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63240" y="21671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87168"/>
            <a:ext cx="39319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4871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NNS (plural noun)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31720" y="24871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63240" y="24871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07208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8072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(noun)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280720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63240" y="280720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27248"/>
            <a:ext cx="39319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127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( , 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31720" y="31272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63240" y="31272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47288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447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 (adjective)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31720" y="34472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63240" y="344728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67328"/>
            <a:ext cx="39319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7673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 (adverb)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31720" y="37673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63240" y="37673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137160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1371600"/>
            <a:ext cx="4114800" cy="411480"/>
          </a:xfrm>
          <a:prstGeom prst="rect">
            <a:avLst/>
          </a:prstGeom>
          <a:solidFill>
            <a:srgbClr val="E05252">
              <a:alpha val="90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14173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— Key Results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0" y="1847088"/>
            <a:ext cx="41148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18470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( , 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46520" y="18470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205472" y="1847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2167128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2167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(determiner)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46520" y="21671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205472" y="2167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2487168"/>
            <a:ext cx="41148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24871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NNS (plural noun)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46520" y="24871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205472" y="2487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2807208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81728" y="28072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(preposition)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46520" y="280720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205472" y="2807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3127248"/>
            <a:ext cx="41148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81728" y="3127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(noun)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446520" y="31272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205472" y="3127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3447288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81728" y="3447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 (adverb)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446520" y="34472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205472" y="34472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3767328"/>
            <a:ext cx="41148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81728" y="37673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 (adjective)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446520" y="37673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205472" y="37673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42793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Errors: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94360" y="455371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confuses JJ (adjective) with NN (noun) 48% of the time — words like "financial", "federal" can look like nouns.  HMM makes this mistake only 11% of the time because it sees the surrounding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HMM Win? — The Core Insight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Ambiguity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"bank" can be a noun OR a verb — rules cannot know which without context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35204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8249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went to the bank"  →  bank = NN (noun)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27632"/>
            <a:ext cx="4251960" cy="566928"/>
          </a:xfrm>
          <a:prstGeom prst="rect">
            <a:avLst/>
          </a:prstGeom>
          <a:solidFill>
            <a:srgbClr val="FFF1F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68249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bank on cheap labour"  →  bank = VBP (verb)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87168"/>
            <a:ext cx="4114800" cy="384048"/>
          </a:xfrm>
          <a:prstGeom prst="rect">
            <a:avLst/>
          </a:prstGeom>
          <a:solidFill>
            <a:srgbClr val="E05252">
              <a:alpha val="90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32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sees: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926080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= "bank"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Lexicon? No. Digit? No. Capital? No. Suffix? No.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→ NN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Sometimes right, often wrong for ambiguous words — it has no way to use the surrounding words as clues.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48716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487168"/>
            <a:ext cx="4114800" cy="384048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532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sees: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0328" y="2926080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tag: DT ("the") → next word likely NN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P(NN | DT) = 0.35 (high)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P(VBP | DT) = 0.001 (very low)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Correctly chooses NN because it learned from thousands of real "the ___" patterns.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4897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7548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try to encode grammar explicitly. Statistics let patterns emerge from data. The +23% accuracy gap is the empirical cost of ignoring context — and it's exactly what motivated the entire statistical NLP revolution of the 1990s.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54864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657600"/>
            <a:ext cx="1828800" cy="1828800"/>
          </a:xfrm>
          <a:prstGeom prst="ellipse">
            <a:avLst/>
          </a:prstGeom>
          <a:solidFill>
            <a:srgbClr val="E05252">
              <a:alpha val="12000"/>
            </a:srgbClr>
          </a:solidFill>
          <a:ln w="12700">
            <a:solidFill>
              <a:srgbClr val="E05252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058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E0525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10058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2743200" cy="457200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6752" y="10058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+ Viterbi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4630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needed?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743200" cy="45720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4630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463040"/>
            <a:ext cx="2743200" cy="457200"/>
          </a:xfrm>
          <a:prstGeom prst="rect">
            <a:avLst/>
          </a:prstGeom>
          <a:solidFill>
            <a:srgbClr val="F0FD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14630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(Penn Treebank)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2743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9202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9202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920240"/>
            <a:ext cx="2743200" cy="457200"/>
          </a:xfrm>
          <a:prstGeom prst="rect">
            <a:avLst/>
          </a:prstGeom>
          <a:solidFill>
            <a:srgbClr val="F0FD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19202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92.96%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2743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3774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word accuracy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377440"/>
            <a:ext cx="2743200" cy="45720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3774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62.38%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743200" cy="457200"/>
          </a:xfrm>
          <a:prstGeom prst="rect">
            <a:avLst/>
          </a:prstGeom>
          <a:solidFill>
            <a:srgbClr val="F0FD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23774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65.33%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834640"/>
            <a:ext cx="2743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8346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2834640"/>
            <a:ext cx="2743200" cy="45720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28346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(prev tag)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2834640"/>
            <a:ext cx="2743200" cy="457200"/>
          </a:xfrm>
          <a:prstGeom prst="rect">
            <a:avLst/>
          </a:prstGeom>
          <a:solidFill>
            <a:srgbClr val="F0FD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28346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(bigram transitions)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291840"/>
            <a:ext cx="2743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2918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32918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transparent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3291840"/>
            <a:ext cx="2743200" cy="457200"/>
          </a:xfrm>
          <a:prstGeom prst="rect">
            <a:avLst/>
          </a:prstGeom>
          <a:solidFill>
            <a:srgbClr val="F0FD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32918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749040"/>
            <a:ext cx="27432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37490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0" y="3749040"/>
            <a:ext cx="2743200" cy="45720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37490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Simple/fast systems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0" y="3749040"/>
            <a:ext cx="2743200" cy="457200"/>
          </a:xfrm>
          <a:prstGeom prst="rect">
            <a:avLst/>
          </a:prstGeom>
          <a:solidFill>
            <a:srgbClr val="F0FD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16752" y="37490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NLP applications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3913632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94360" y="39867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94360" y="429768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→ Statistical (HMM) → Neural (BERT, 97%+)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the first two eras from scratch, teaching you the statistical foundations that every modern NLP system is built 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1840</Words>
  <Application>Microsoft Office PowerPoint</Application>
  <PresentationFormat>On-screen Show (16:9)</PresentationFormat>
  <Paragraphs>303</Paragraphs>
  <Slides>13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 Tagging: Rule-Based vs HMM</dc:title>
  <dc:subject>PptxGenJS Presentation</dc:subject>
  <dc:creator>PptxGenJS</dc:creator>
  <cp:lastModifiedBy>Windows User</cp:lastModifiedBy>
  <cp:revision>5</cp:revision>
  <dcterms:created xsi:type="dcterms:W3CDTF">2026-04-24T04:48:29Z</dcterms:created>
  <dcterms:modified xsi:type="dcterms:W3CDTF">2026-05-26T06:44:43Z</dcterms:modified>
</cp:coreProperties>
</file>